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efec2c31744875" /><Relationship Type="http://schemas.openxmlformats.org/officeDocument/2006/relationships/extended-properties" Target="/docProps/app.xml" Id="R1040a3cd0f0e442a" /><Relationship Type="http://schemas.openxmlformats.org/officeDocument/2006/relationships/officeDocument" Target="/ppt/presentation.xml" Id="R914251dd51cb4d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00310c16cf4b6a"/>
  </p:sldMasterIdLst>
  <p:notesMasterIdLst>
    <p:notesMasterId xmlns:r="http://schemas.openxmlformats.org/officeDocument/2006/relationships" r:id="R1f02c021c99b4a21"/>
  </p:notesMasterIdLst>
  <p:sldIdLst>
    <p:sldId xmlns:r="http://schemas.openxmlformats.org/officeDocument/2006/relationships" id="256" r:id="Rb6a218a0c1344836"/>
    <p:sldId xmlns:r="http://schemas.openxmlformats.org/officeDocument/2006/relationships" id="257" r:id="R35b0e60877294aa1"/>
    <p:sldId xmlns:r="http://schemas.openxmlformats.org/officeDocument/2006/relationships" id="258" r:id="R017c50ab764e4c70"/>
    <p:sldId xmlns:r="http://schemas.openxmlformats.org/officeDocument/2006/relationships" id="259" r:id="R38591f6f28fb4fab"/>
    <p:sldId xmlns:r="http://schemas.openxmlformats.org/officeDocument/2006/relationships" id="260" r:id="R6b44db04ed274d31"/>
    <p:sldId xmlns:r="http://schemas.openxmlformats.org/officeDocument/2006/relationships" id="261" r:id="R559fdc5114414a19"/>
    <p:sldId xmlns:r="http://schemas.openxmlformats.org/officeDocument/2006/relationships" id="262" r:id="Rf22efe89592a4060"/>
    <p:sldId xmlns:r="http://schemas.openxmlformats.org/officeDocument/2006/relationships" id="263" r:id="R4ce42c8a10944855"/>
    <p:sldId xmlns:r="http://schemas.openxmlformats.org/officeDocument/2006/relationships" id="264" r:id="R38ea12f1b76d4c8a"/>
    <p:sldId xmlns:r="http://schemas.openxmlformats.org/officeDocument/2006/relationships" id="265" r:id="Reb657aec1c834990"/>
    <p:sldId xmlns:r="http://schemas.openxmlformats.org/officeDocument/2006/relationships" id="266" r:id="R961e1e93e29a4cf9"/>
    <p:sldId xmlns:r="http://schemas.openxmlformats.org/officeDocument/2006/relationships" id="267" r:id="R6e2f74ecfdb64cdc"/>
    <p:sldId xmlns:r="http://schemas.openxmlformats.org/officeDocument/2006/relationships" id="268" r:id="R3f71280adca24e1b"/>
    <p:sldId xmlns:r="http://schemas.openxmlformats.org/officeDocument/2006/relationships" id="269" r:id="Rcfe90953de2943e2"/>
    <p:sldId xmlns:r="http://schemas.openxmlformats.org/officeDocument/2006/relationships" id="270" r:id="R4ad327b626a8479c"/>
    <p:sldId xmlns:r="http://schemas.openxmlformats.org/officeDocument/2006/relationships" id="271" r:id="R088ea57db26a4b23"/>
    <p:sldId xmlns:r="http://schemas.openxmlformats.org/officeDocument/2006/relationships" id="272" r:id="R955da721630d4246"/>
    <p:sldId xmlns:r="http://schemas.openxmlformats.org/officeDocument/2006/relationships" id="273" r:id="R48d4eb6e9edf4955"/>
    <p:sldId xmlns:r="http://schemas.openxmlformats.org/officeDocument/2006/relationships" id="274" r:id="Rec44866f571a449c"/>
    <p:sldId xmlns:r="http://schemas.openxmlformats.org/officeDocument/2006/relationships" id="275" r:id="R1d7f04bb0ba1408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c283aed4b74fc9" /><Relationship Type="http://schemas.openxmlformats.org/officeDocument/2006/relationships/slideMaster" Target="/ppt/slideMasters/slideMaster1.xml" Id="R1e00310c16cf4b6a" /><Relationship Type="http://schemas.openxmlformats.org/officeDocument/2006/relationships/notesMaster" Target="/ppt/notesMasters/notesMaster1.xml" Id="R1f02c021c99b4a21" /><Relationship Type="http://schemas.openxmlformats.org/officeDocument/2006/relationships/presProps" Target="/ppt/presProps.xml" Id="Rc21e5403190e4390" /><Relationship Type="http://schemas.openxmlformats.org/officeDocument/2006/relationships/tableStyles" Target="/ppt/tableStyles.xml" Id="R73526ce75a794c5e" /><Relationship Type="http://schemas.openxmlformats.org/officeDocument/2006/relationships/slide" Target="/ppt/slides/slide1.xml" Id="Rb6a218a0c1344836" /><Relationship Type="http://schemas.openxmlformats.org/officeDocument/2006/relationships/slide" Target="/ppt/slides/slide2.xml" Id="R35b0e60877294aa1" /><Relationship Type="http://schemas.openxmlformats.org/officeDocument/2006/relationships/slide" Target="/ppt/slides/slide3.xml" Id="R017c50ab764e4c70" /><Relationship Type="http://schemas.openxmlformats.org/officeDocument/2006/relationships/slide" Target="/ppt/slides/slide4.xml" Id="R38591f6f28fb4fab" /><Relationship Type="http://schemas.openxmlformats.org/officeDocument/2006/relationships/slide" Target="/ppt/slides/slide5.xml" Id="R6b44db04ed274d31" /><Relationship Type="http://schemas.openxmlformats.org/officeDocument/2006/relationships/slide" Target="/ppt/slides/slide6.xml" Id="R559fdc5114414a19" /><Relationship Type="http://schemas.openxmlformats.org/officeDocument/2006/relationships/slide" Target="/ppt/slides/slide7.xml" Id="Rf22efe89592a4060" /><Relationship Type="http://schemas.openxmlformats.org/officeDocument/2006/relationships/slide" Target="/ppt/slides/slide8.xml" Id="R4ce42c8a10944855" /><Relationship Type="http://schemas.openxmlformats.org/officeDocument/2006/relationships/slide" Target="/ppt/slides/slide9.xml" Id="R38ea12f1b76d4c8a" /><Relationship Type="http://schemas.openxmlformats.org/officeDocument/2006/relationships/slide" Target="/ppt/slides/slide10.xml" Id="Reb657aec1c834990" /><Relationship Type="http://schemas.openxmlformats.org/officeDocument/2006/relationships/slide" Target="/ppt/slides/slide11.xml" Id="R961e1e93e29a4cf9" /><Relationship Type="http://schemas.openxmlformats.org/officeDocument/2006/relationships/slide" Target="/ppt/slides/slide12.xml" Id="R6e2f74ecfdb64cdc" /><Relationship Type="http://schemas.openxmlformats.org/officeDocument/2006/relationships/slide" Target="/ppt/slides/slide13.xml" Id="R3f71280adca24e1b" /><Relationship Type="http://schemas.openxmlformats.org/officeDocument/2006/relationships/slide" Target="/ppt/slides/slide14.xml" Id="Rcfe90953de2943e2" /><Relationship Type="http://schemas.openxmlformats.org/officeDocument/2006/relationships/slide" Target="/ppt/slides/slide15.xml" Id="R4ad327b626a8479c" /><Relationship Type="http://schemas.openxmlformats.org/officeDocument/2006/relationships/slide" Target="/ppt/slides/slide16.xml" Id="R088ea57db26a4b23" /><Relationship Type="http://schemas.openxmlformats.org/officeDocument/2006/relationships/slide" Target="/ppt/slides/slide17.xml" Id="R955da721630d4246" /><Relationship Type="http://schemas.openxmlformats.org/officeDocument/2006/relationships/slide" Target="/ppt/slides/slide18.xml" Id="R48d4eb6e9edf4955" /><Relationship Type="http://schemas.openxmlformats.org/officeDocument/2006/relationships/slide" Target="/ppt/slides/slide19.xml" Id="Rec44866f571a449c" /><Relationship Type="http://schemas.openxmlformats.org/officeDocument/2006/relationships/slide" Target="/ppt/slides/slide20.xml" Id="R1d7f04bb0ba140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44e9e852824a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2326fc17224da1" /><Relationship Type="http://schemas.openxmlformats.org/officeDocument/2006/relationships/notesMaster" Target="/ppt/notesMasters/notesMaster1.xml" Id="R7a77888fc3da41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c455c53b02462d" /><Relationship Type="http://schemas.openxmlformats.org/officeDocument/2006/relationships/notesMaster" Target="/ppt/notesMasters/notesMaster1.xml" Id="Rde8b0f4a7a984f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d46894ed6e4f6c" /><Relationship Type="http://schemas.openxmlformats.org/officeDocument/2006/relationships/notesMaster" Target="/ppt/notesMasters/notesMaster1.xml" Id="R34f7634b0dad4a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32e00050064618" /><Relationship Type="http://schemas.openxmlformats.org/officeDocument/2006/relationships/notesMaster" Target="/ppt/notesMasters/notesMaster1.xml" Id="Rde78c5bc1e2c4a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ca2df0befa463b" /><Relationship Type="http://schemas.openxmlformats.org/officeDocument/2006/relationships/notesMaster" Target="/ppt/notesMasters/notesMaster1.xml" Id="Rf2ae61759ee74f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e64b537efe4112" /><Relationship Type="http://schemas.openxmlformats.org/officeDocument/2006/relationships/notesMaster" Target="/ppt/notesMasters/notesMaster1.xml" Id="R0bbe92450a1544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313ada357f487b" /><Relationship Type="http://schemas.openxmlformats.org/officeDocument/2006/relationships/notesMaster" Target="/ppt/notesMasters/notesMaster1.xml" Id="R2c34285bf77f42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34b91730522498d" /><Relationship Type="http://schemas.openxmlformats.org/officeDocument/2006/relationships/notesMaster" Target="/ppt/notesMasters/notesMaster1.xml" Id="R5573b549f39746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dcc9a8b62204984" /><Relationship Type="http://schemas.openxmlformats.org/officeDocument/2006/relationships/notesMaster" Target="/ppt/notesMasters/notesMaster1.xml" Id="R1986c6453d734b2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6d1af28356b4cbe" /><Relationship Type="http://schemas.openxmlformats.org/officeDocument/2006/relationships/notesMaster" Target="/ppt/notesMasters/notesMaster1.xml" Id="R955916cab2a1464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9521cb204db4d9d" /><Relationship Type="http://schemas.openxmlformats.org/officeDocument/2006/relationships/notesMaster" Target="/ppt/notesMasters/notesMaster1.xml" Id="Rd54cf99f8da44cc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f2790ff6edd4679" /><Relationship Type="http://schemas.openxmlformats.org/officeDocument/2006/relationships/notesMaster" Target="/ppt/notesMasters/notesMaster1.xml" Id="Rd90ea465053f4e7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6d50aafaf3a4fd0" /><Relationship Type="http://schemas.openxmlformats.org/officeDocument/2006/relationships/notesMaster" Target="/ppt/notesMasters/notesMaster1.xml" Id="Rcb9201fd21874e3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6e65e13657d4462" /><Relationship Type="http://schemas.openxmlformats.org/officeDocument/2006/relationships/notesMaster" Target="/ppt/notesMasters/notesMaster1.xml" Id="R40f8d006b4e0433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40bb340877d4eb8" /><Relationship Type="http://schemas.openxmlformats.org/officeDocument/2006/relationships/notesMaster" Target="/ppt/notesMasters/notesMaster1.xml" Id="R572d51b7b91f43c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e32793c85114b35" /><Relationship Type="http://schemas.openxmlformats.org/officeDocument/2006/relationships/notesMaster" Target="/ppt/notesMasters/notesMaster1.xml" Id="Reb65967991134df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96be8d1eaf8408d" /><Relationship Type="http://schemas.openxmlformats.org/officeDocument/2006/relationships/notesMaster" Target="/ppt/notesMasters/notesMaster1.xml" Id="R26ed9f1a0f0044a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7eb679ba01347b0" /><Relationship Type="http://schemas.openxmlformats.org/officeDocument/2006/relationships/notesMaster" Target="/ppt/notesMasters/notesMaster1.xml" Id="R51dccec9fab940b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04937b576e54063" /><Relationship Type="http://schemas.openxmlformats.org/officeDocument/2006/relationships/notesMaster" Target="/ppt/notesMasters/notesMaster1.xml" Id="R309320f56ad1495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80f61e225634947" /><Relationship Type="http://schemas.openxmlformats.org/officeDocument/2006/relationships/notesMaster" Target="/ppt/notesMasters/notesMaster1.xml" Id="R0d287581f06846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今天讨论的不是某个模型的提示词，而是怎样让 AI Agent 在复杂项目里持续工作，并让工作可交接、可追溯、可并行、可被人控制。核心结论是：决定长期交付能力的，往往是 Agent 外面的协作系统。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.agents/agent.md</a:t>
            </a:r>
          </a:p>
          <a:p xmlns:a="http://schemas.openxmlformats.org/drawingml/2006/main">
            <a:r>
              <a:t>- .agents/plan.md</a:t>
            </a:r>
          </a:p>
          <a:p xmlns:a="http://schemas.openxmlformats.org/drawingml/2006/main">
            <a:r>
              <a:t>- .agents/history.md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 可以理解为“会话能力 + 工具 + 工作区 + 反馈循环”。它能提出方案、产生可检查的改动、得到真实反馈，再继续推进。普通会话解决一次回答，Agent 负责一段工作。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用户提供的教程骨架；项目经验归纳。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复杂工程最容易出现“解释听起来正确，但运行不起来”。Agent 的价值是把判断落到源码、配置、测试、服务器返回和最终输出上；同时把工作拆为相互隔离的执行面。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用户提供的教程骨架；项目经验归纳。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不要把“记住一切、自动纠错、一次成功”当作系统前提。上下文压缩不是无损存档，随机性又会在长链任务中被放大。Agent 也不一定主动发现计划代价过大，常常只会沿当前方向继续尝试。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用户提供的教程骨架；项目经验归纳。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接手陌生项目时，第一轮任务是理解并汇报，不是立刻修复。让 Agent 产出项目地图、核心目标、当前状态和风险未知项。人要重点检查核心目标是否准确，以及每一层输出最终由谁消费。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用户提供的教程骨架；项目经验归纳。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这个项目容易被误解成“把 ONNX 转成算子 JSON”。真正目标是同一冻结输入在软件公式、配置绑定模拟器和 stock RTL 硬件上得到一致结果。JSON、mapping、bitstream、execplan 与 SCA 都只是中间层。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.agents/plan.md 的“核心目标与三方口径”</a:t>
            </a:r>
          </a:p>
          <a:p xmlns:a="http://schemas.openxmlformats.org/drawingml/2006/main">
            <a:r>
              <a:t>- contracts/resnet50_r5_lowering_bundle.json</a:t>
            </a:r>
          </a:p>
          <a:p xmlns:a="http://schemas.openxmlformats.org/drawingml/2006/main">
            <a:r>
              <a:t>- contracts/resnet50_project_closure.json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根规则文件是每个新任务的稳定入口，但不能变成所有信息的堆积区。它只保存项目目标、稳定边界、信息索引、事实优先级和协作方式。计划、历史、公共规则、分支规则与 ADR 分别承担不同职责，使每次上下文恢复都有明确路径。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.agents/agent.md</a:t>
            </a:r>
          </a:p>
          <a:p xmlns:a="http://schemas.openxmlformats.org/drawingml/2006/main">
            <a:r>
              <a:t>- .agents/plan.md</a:t>
            </a:r>
          </a:p>
          <a:p xmlns:a="http://schemas.openxmlformats.org/drawingml/2006/main">
            <a:r>
              <a:t>- .agents/history.md</a:t>
            </a:r>
          </a:p>
          <a:p xmlns:a="http://schemas.openxmlformats.org/drawingml/2006/main">
            <a:r>
              <a:t>- .agents/rules/</a:t>
            </a:r>
          </a:p>
          <a:p xmlns:a="http://schemas.openxmlformats.org/drawingml/2006/main">
            <a:r>
              <a:t>- .agents/decisions/</a:t>
            </a:r>
          </a:p>
          <a:p xmlns:a="http://schemas.openxmlformats.org/drawingml/2006/main">
            <a:r>
              <a:t>- .agents/task_records/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根规则文件最大的风险是越写越长。它只保存稳定入口；当前任务去 plan，生成规则去 rules，完成证据去 task_records，旧版本去 history 与 archive。唯一归属让 Agent 不需要在多个文件里猜哪一份才是当前口径。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.agents/agent.md 的“文档唯一归属”</a:t>
            </a:r>
          </a:p>
          <a:p xmlns:a="http://schemas.openxmlformats.org/drawingml/2006/main">
            <a:r>
              <a:t>- .agents/history.md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Plan、History/Task Record、Branch Rule 分别对应现在、过去和未来。任务结束后，把过程移出活动计划：事实写 task record，可推广经验写规则，只属于版本的细节进入历史。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.agents/agent.md</a:t>
            </a:r>
          </a:p>
          <a:p xmlns:a="http://schemas.openxmlformats.org/drawingml/2006/main">
            <a:r>
              <a:t>- .agents/history.md</a:t>
            </a:r>
          </a:p>
          <a:p xmlns:a="http://schemas.openxmlformats.org/drawingml/2006/main">
            <a:r>
              <a:t>- .agents/task_records/</a:t>
            </a:r>
          </a:p>
          <a:p xmlns:a="http://schemas.openxmlformats.org/drawingml/2006/main">
            <a:r>
              <a:t>- .agents/rules/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第一，项目知识不再依赖某个账号或对话；第二，上下文按需装载，压缩后重读短小稳定入口；第三，成功和失败都变成规则、反例和自动检查。建议把规则和证据纳入 Git 并做远端备份。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.agents/history.md</a:t>
            </a:r>
          </a:p>
          <a:p xmlns:a="http://schemas.openxmlformats.org/drawingml/2006/main">
            <a:r>
              <a:t>- .agents/rules/生成前必读索引.md</a:t>
            </a:r>
          </a:p>
          <a:p xmlns:a="http://schemas.openxmlformats.org/drawingml/2006/main">
            <a:r>
              <a:t>- Git 历史与远端备份策略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线不承担普通执行任务，而是保持低负载，随时可以回答人的问题、调整优先级、处理跨分支冲突。分支负责一个算子族或明确专项的纵向闭环，并通过结构化结果回传主线。公共规则是否修改，最终由主线依据证据裁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.agents/agent.md 的“三级协作架构”与“标准派发与回传”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并行主要减少等待时间，不会让同样的算力凭空完成更多总工作。只有依赖清晰、资产隔离、验收明确的任务适合并行。本项目用六条执行线和三个服务器根做双缓冲，同一根目录始终独占。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.agents/agent.md 的“六条执行线与三服务器双缓冲流水”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上下文管理不是简单删字，而是建立信息路由。生成前索引根据动作类型决定必须读什么、条件读什么，并通过 SHA 读取收据判断规则漂移。压缩后从稳定入口和 task record 恢复必要事实，而不是重放全部历史。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.agents/rules/生成前必读索引.md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先计划后执行，可以在最便宜的阶段发现理解偏差。任务单要冻结目标、输入、规则身份、允许写入范围、失败分流、停止门和预算。遇到阻塞时，分支把问题回传主线，而不是自行扩大权限和改动范围。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.agents/agent.md 的“标准派发与回传”</a:t>
            </a:r>
          </a:p>
          <a:p xmlns:a="http://schemas.openxmlformats.org/drawingml/2006/main">
            <a:r>
              <a:t>- .agents/plan.md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支通常不会自动判断当前计划整体不合理。只要还有动作可尝试，它可能继续沿原路线推进。人类最重要的作用，是观察多轮是否产生新的区分性证据；如果没有，就重新定义问题边界、补充消费链知识、改变观测点或换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用户提供的教程骨架；项目经验归纳。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项目初期曾尝试让 Agent 从 ONNX 和已有 JSON 学会直接写新配置，但多轮迭代效果不佳。JSON 字段不是纯数学表达，它还绑定硬件单元、地址生命周期与控制时序。格式相似不能证明消费者语义相同。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用户提供的教程骨架；项目经验归纳。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人的关键干预不是继续强调“请认真一点”，而是补齐 Agent 原来无法推断的系统知识：配置如何进入比特流，比特流如何被执行，字段最终对应哪些 RTL 行为。这些知识随后进入公共规则、硬件字段语义、专项规则和 validator。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.agents/rules/算子配置规则.md</a:t>
            </a:r>
          </a:p>
          <a:p xmlns:a="http://schemas.openxmlformats.org/drawingml/2006/main">
            <a:r>
              <a:t>- .agents/rules/NDP硬件字段语义.md</a:t>
            </a:r>
          </a:p>
          <a:p xmlns:a="http://schemas.openxmlformats.org/drawingml/2006/main">
            <a:r>
              <a:t>- .agents/rules/DequantizeLinear算子配置规则.md</a:t>
            </a:r>
          </a:p>
          <a:p xmlns:a="http://schemas.openxmlformats.org/drawingml/2006/main">
            <a:r>
              <a:t>- docs/dequant_node0077_v6_配置与三方验证学习说明.md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Dequant node0077 最终在 v6 完成正式 E4 和全新身份 E5。两次运行都自然完成 28 个 slice，5,264 行正式 D 逐 bit 对 golden；16,000 个 FP32 元素在 golden、配置绑定 simulator 和 hardware 间一致。提升来自知识链、规则和验证门共同收敛。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contracts/operator_config/node0077_dequant_generation_receipt_v1.json ～ v6.json</a:t>
            </a:r>
          </a:p>
          <a:p xmlns:a="http://schemas.openxmlformats.org/drawingml/2006/main">
            <a:r>
              <a:t>- .agents/task_records/20260727_dequant_node0077_full_v6_e4_pass.md</a:t>
            </a:r>
          </a:p>
          <a:p xmlns:a="http://schemas.openxmlformats.org/drawingml/2006/main">
            <a:r>
              <a:t>- .agents/task_records/20260727_dequant_node0077_full_v6_e5_pass.md</a:t>
            </a:r>
          </a:p>
          <a:p xmlns:a="http://schemas.openxmlformats.org/drawingml/2006/main">
            <a:r>
              <a:t>- docs/rtl_defects/resnet50_int8/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约束强度通常是代码硬约束大于规则文件，再大于口头提醒。生成前读取收据、规则 SHA、最终 ZIP current-rule 自检和 fail-closed gate，会把“记得遵守”升级为“违反就无法通过”。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.agents/rules/生成前必读索引.md</a:t>
            </a:r>
          </a:p>
          <a:p xmlns:a="http://schemas.openxmlformats.org/drawingml/2006/main">
            <a:r>
              <a:t>- .agents/rules/服务器测试包生成规则.md</a:t>
            </a:r>
          </a:p>
          <a:p xmlns:a="http://schemas.openxmlformats.org/drawingml/2006/main">
            <a:r>
              <a:t>- .agents/plan.md 的 FINAL_ZIP_RULE_SELF_AUDIT_PASS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困难项目不应期待一次完成。只要问题边界在收窄、可复用知识在增加、重复错误在减少，项目就在真正推进。把这五步作为下一次接手项目的默认操作法：地图、规则、主线分支、先计划后执行、经验代码化。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.agents/agent.md</a:t>
            </a:r>
          </a:p>
          <a:p xmlns:a="http://schemas.openxmlformats.org/drawingml/2006/main">
            <a:r>
              <a:t>- .agents/plan.md</a:t>
            </a:r>
          </a:p>
          <a:p xmlns:a="http://schemas.openxmlformats.org/drawingml/2006/main">
            <a:r>
              <a:t>- .agents/rules/</a:t>
            </a:r>
          </a:p>
          <a:p xmlns:a="http://schemas.openxmlformats.org/drawingml/2006/main">
            <a:r>
              <a:t>- .agents/task_records/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48dc22326c4b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a4aed0134d452c" /><Relationship Type="http://schemas.openxmlformats.org/officeDocument/2006/relationships/slideLayout" Target="/ppt/slideLayouts/slideLayout1.xml" Id="R60401250d7e74c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401250d7e74c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8aa983617847d3" /><Relationship Type="http://schemas.openxmlformats.org/officeDocument/2006/relationships/notesSlide" Target="/ppt/notesSlides/notesSlide1.xml" Id="R2a684598744043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afb713f11045fd" /><Relationship Type="http://schemas.openxmlformats.org/officeDocument/2006/relationships/notesSlide" Target="/ppt/notesSlides/notesSlide2.xml" Id="R255d29dbe3264f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f3aa9e6a824799" /><Relationship Type="http://schemas.openxmlformats.org/officeDocument/2006/relationships/notesSlide" Target="/ppt/notesSlides/notesSlide3.xml" Id="Rdaedbd5923404b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4cb3d8719a4f6e" /><Relationship Type="http://schemas.openxmlformats.org/officeDocument/2006/relationships/notesSlide" Target="/ppt/notesSlides/notesSlide4.xml" Id="Rc7bef5fa379d40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0eaeb63c5544a1" /><Relationship Type="http://schemas.openxmlformats.org/officeDocument/2006/relationships/notesSlide" Target="/ppt/notesSlides/notesSlide5.xml" Id="R6b6c3f889ce347b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7039d76d2749e3" /><Relationship Type="http://schemas.openxmlformats.org/officeDocument/2006/relationships/notesSlide" Target="/ppt/notesSlides/notesSlide6.xml" Id="Rdff54aed1b914de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4ff0f50d694d32" /><Relationship Type="http://schemas.openxmlformats.org/officeDocument/2006/relationships/notesSlide" Target="/ppt/notesSlides/notesSlide7.xml" Id="Rbb75e77d643348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8ad82c29af40f0" /><Relationship Type="http://schemas.openxmlformats.org/officeDocument/2006/relationships/notesSlide" Target="/ppt/notesSlides/notesSlide8.xml" Id="R9d180c33ba2246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1181fb8c2a4a3c" /><Relationship Type="http://schemas.openxmlformats.org/officeDocument/2006/relationships/notesSlide" Target="/ppt/notesSlides/notesSlide9.xml" Id="R745335808df5497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68c07708984a5a" /><Relationship Type="http://schemas.openxmlformats.org/officeDocument/2006/relationships/notesSlide" Target="/ppt/notesSlides/notesSlide10.xml" Id="R617d645168d04a5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2a661210cf4017" /><Relationship Type="http://schemas.openxmlformats.org/officeDocument/2006/relationships/notesSlide" Target="/ppt/notesSlides/notesSlide11.xml" Id="R1f42231874bb495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cec2c989b04f45" /><Relationship Type="http://schemas.openxmlformats.org/officeDocument/2006/relationships/notesSlide" Target="/ppt/notesSlides/notesSlide12.xml" Id="R10b8839a35c0413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c0211d405d41e2" /><Relationship Type="http://schemas.openxmlformats.org/officeDocument/2006/relationships/notesSlide" Target="/ppt/notesSlides/notesSlide13.xml" Id="R5ad8aa0724374fa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b2a5475b684dfb" /><Relationship Type="http://schemas.openxmlformats.org/officeDocument/2006/relationships/notesSlide" Target="/ppt/notesSlides/notesSlide14.xml" Id="R75b4e238383c465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5e676bc8f34b52" /><Relationship Type="http://schemas.openxmlformats.org/officeDocument/2006/relationships/notesSlide" Target="/ppt/notesSlides/notesSlide15.xml" Id="Rbc8f5813a0fc4a5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9fdf8095e74f5f" /><Relationship Type="http://schemas.openxmlformats.org/officeDocument/2006/relationships/notesSlide" Target="/ppt/notesSlides/notesSlide16.xml" Id="R27c56704bc4f431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a565ba63a84d58" /><Relationship Type="http://schemas.openxmlformats.org/officeDocument/2006/relationships/notesSlide" Target="/ppt/notesSlides/notesSlide17.xml" Id="Rc00a82e4468c42e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1b4bbbe39945e5" /><Relationship Type="http://schemas.openxmlformats.org/officeDocument/2006/relationships/notesSlide" Target="/ppt/notesSlides/notesSlide18.xml" Id="R0ec44d6dcf87493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8e39421ae5400e" /><Relationship Type="http://schemas.openxmlformats.org/officeDocument/2006/relationships/notesSlide" Target="/ppt/notesSlides/notesSlide19.xml" Id="R92b54829782d41c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2f3a1fed2a4abe" /><Relationship Type="http://schemas.openxmlformats.org/officeDocument/2006/relationships/notesSlide" Target="/ppt/notesSlides/notesSlide20.xml" Id="Rd44c4c4e9572414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E981504C-5985-45C7-86B5-F3982062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70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55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把 AI Agent
变成可管理的工程团队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7D41FE96-7299-4F01-9D84-5BA221D3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接手｜规则｜主线—分支｜干预｜上下文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7488B0AA-33D7-4703-B187-E6D6E8D5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AI AGENT 工程协作教程 · RESNET50 INT8 项目经验</a:t>
            </a:r>
          </a:p>
        </p:txBody>
      </p:sp>
    </p:spTree>
    <p:extLst>
      <p:ext uri="{BB962C8B-B14F-4D97-AF65-F5344CB8AC3E}">
        <p14:creationId xmlns:p14="http://schemas.microsoft.com/office/powerpoint/2010/main" val="112034765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1A2A6366-5033-4F35-8F12-E2D8D8E7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70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C8ECC0B9-FB39-457C-AD10-CF60DF93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7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Agent 不是更长的聊天，而是执行闭环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0E424F46-1A6C-4389-821F-D2BF0B1E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普通会话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回答当前问题
状态主要留在聊天记录
结果通常需要人再执行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9FD320B3-FF01-4236-9ED5-F0485D06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围绕目标持续规划
读取项目并调用工具
根据执行结果继续调整</a:t>
            </a:r>
          </a:p>
        </p:txBody>
      </p:sp>
    </p:spTree>
    <p:extLst>
      <p:ext uri="{BB962C8B-B14F-4D97-AF65-F5344CB8AC3E}">
        <p14:creationId xmlns:p14="http://schemas.microsoft.com/office/powerpoint/2010/main" val="187215023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471DB1F-86BF-4A43-A11E-12EB7033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70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4BA747F-AAB4-48B3-9A9D-0C7C947D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7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Agent 的优势来自执行、验证与分工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FB3A1898-0210-4F20-9CE6-9AF59524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直接作用于项目
读取代码、生成制品、执行测试，而不是只给建议。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675888E4-3AA0-4EA9-B7F5-F82A46B2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用证据闭环
用日志、哈希、测试结果和回读数据判断是否完成。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DDF56C62-635E-446E-A856-04E2A02E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可以分工协作
主线负责调度，分支负责专项，结果回到主线汇总。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D910D755-1B6C-496C-8351-D58BDD61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48F5662A-AA73-4CB1-9A18-1C413D56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C3B414CF-8C4E-418C-B310-74DB6DE9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123756000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EB4B9BF0-3B26-47DD-BF2D-103B6953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70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C7470F46-39A6-4A39-BB74-90A31054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7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它仍有四个无法绕过的限制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DBDED8E7-16AA-4552-94AF-0706999D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上下文有限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项目规模通常大于单个对话能完整容纳的范围。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95A7BD03-2926-47BD-A9B8-17B29C32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压缩会丢细节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多次压缩后，目标、约束和失败原因可能变模糊。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87112DCC-D162-4206-B098-254539E2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输出有随机性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同一问题可能得到质量不同、方向不同的方案。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80BA468A-D4A6-44C6-A430-E58135C9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长链任务脆弱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一处错误就可能让整条链无法运行，重复尝试也未必成功。</a:t>
            </a:r>
          </a:p>
        </p:txBody>
      </p:sp>
    </p:spTree>
    <p:extLst>
      <p:ext uri="{BB962C8B-B14F-4D97-AF65-F5344CB8AC3E}">
        <p14:creationId xmlns:p14="http://schemas.microsoft.com/office/powerpoint/2010/main" val="11114784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FA454186-4687-474B-901F-D2A90335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70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CCE35950-A99B-4D1C-AB25-F124AD83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7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接手项目先建地图，不要先修改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26E82084-9873-405C-87ED-6748AE9B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最终交付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项目真正要得到什么结果？完成口径是什么？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B7DCAB8F-1E09-4457-88F8-A8A40412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模块关系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源码、配置、测试、产物和外部依赖如何连接？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6C3080FF-3C7B-4ECB-88E2-9A1A6D67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当前状态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哪些已完成、未完成、已冻结？证据分别在哪里？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22F5058-CD34-46ED-B4B5-5447F02A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风险未知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哪些结论只是推测？哪些消费者语义还没查清？</a:t>
            </a:r>
          </a:p>
        </p:txBody>
      </p:sp>
    </p:spTree>
    <p:extLst>
      <p:ext uri="{BB962C8B-B14F-4D97-AF65-F5344CB8AC3E}">
        <p14:creationId xmlns:p14="http://schemas.microsoft.com/office/powerpoint/2010/main" val="182713351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8AD70EAE-0ABE-49C8-B944-DC7E8B18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CBA821B8-CB25-48EB-A0E7-A191C0D7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60818D8E-F1B2-4B5B-BD5C-06D2DA36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1536AB80-BD47-4850-8A08-EB0D066A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70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C63B3D70-2394-4997-946E-3612A64F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7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把核心目标压缩成一条三方闭环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B8A7D305-69D6-46B8-BBB0-8E35A809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ONNX 节点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5896C1D9-4BDE-4FDA-B43A-7F828427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硬件 stage family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46D0B97F-2E44-47D5-88C9-943E2246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typed hardware stage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5D4544FA-B8B9-46E9-B07E-B02C629C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78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E446F863-A482-416E-AA16-1390CE5B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133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AA7BDFCE-0756-408B-90BD-B8F66F2C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CE62B23F-AE3C-46B1-B2C4-B6121E3F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4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核心目标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同一冻结输入在三侧得到一致逻辑 tensor：
ONNX / W3 golden ↔ config-bound simulator ↔ stock-RTL hardware</a:t>
            </a:r>
          </a:p>
        </p:txBody>
      </p:sp>
    </p:spTree>
    <p:extLst>
      <p:ext uri="{BB962C8B-B14F-4D97-AF65-F5344CB8AC3E}">
        <p14:creationId xmlns:p14="http://schemas.microsoft.com/office/powerpoint/2010/main" val="10973817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AE3D5357-3EC0-4AF8-8ED2-24794239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规则文件必须分层，而不是无限增长</a:t>
            </a:r>
          </a:p>
        </p:txBody>
      </p:sp>
      <p:sp>
        <p:nvSpPr>
          <p:cNvPr id="2" name="slide-7-footer">
            <a:extLst xmlns:a="http://schemas.openxmlformats.org/drawingml/2006/main">
              <a:ext uri="{FF2B5EF4-FFF2-40B4-BE49-F238E27FC236}">
                <a16:creationId xmlns:a16="http://schemas.microsoft.com/office/drawing/2014/main" id="{623A999E-9810-4203-8A9D-A0F82764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cxnSp>
        <p:nvCxnSpPr>
          <p:cNvPr id="19" name="rule-root-to-trunk"/>
          <p:cNvCxnSpPr/>
          <p:nvPr/>
        </p:nvCxnSpPr>
        <p:spPr>
          <a:xfrm xmlns:a="http://schemas.openxmlformats.org/drawingml/2006/main">
            <a:off x="3714750" y="31432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20" name="rule-trunk"/>
          <p:cNvCxnSpPr/>
          <p:nvPr/>
        </p:nvCxnSpPr>
        <p:spPr>
          <a:xfrm xmlns:a="http://schemas.openxmlformats.org/drawingml/2006/main">
            <a:off x="4381500" y="1724025"/>
            <a:ext cx="0" cy="3238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21" name="rule-branch-1"/>
          <p:cNvCxnSpPr/>
          <p:nvPr/>
        </p:nvCxnSpPr>
        <p:spPr>
          <a:xfrm xmlns:a="http://schemas.openxmlformats.org/drawingml/2006/main">
            <a:off x="4381500" y="17240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22" name="rule-branch-2"/>
          <p:cNvCxnSpPr/>
          <p:nvPr/>
        </p:nvCxnSpPr>
        <p:spPr>
          <a:xfrm xmlns:a="http://schemas.openxmlformats.org/drawingml/2006/main">
            <a:off x="4381500" y="25336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23" name="rule-branch-3"/>
          <p:cNvCxnSpPr/>
          <p:nvPr/>
        </p:nvCxnSpPr>
        <p:spPr>
          <a:xfrm xmlns:a="http://schemas.openxmlformats.org/drawingml/2006/main">
            <a:off x="4381500" y="33432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24" name="rule-branch-4"/>
          <p:cNvCxnSpPr/>
          <p:nvPr/>
        </p:nvCxnSpPr>
        <p:spPr>
          <a:xfrm xmlns:a="http://schemas.openxmlformats.org/drawingml/2006/main">
            <a:off x="4381500" y="41529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25" name="rule-branch-5"/>
          <p:cNvCxnSpPr/>
          <p:nvPr/>
        </p:nvCxnSpPr>
        <p:spPr>
          <a:xfrm xmlns:a="http://schemas.openxmlformats.org/drawingml/2006/main">
            <a:off x="4381500" y="49625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0" name="root-rule-node">
            <a:extLst xmlns:a="http://schemas.openxmlformats.org/drawingml/2006/main">
              <a:ext uri="{FF2B5EF4-FFF2-40B4-BE49-F238E27FC236}">
                <a16:creationId xmlns:a16="http://schemas.microsoft.com/office/drawing/2014/main" id="{C8518D02-645F-4A6A-A249-40A45320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0"/>
            <a:ext cx="3238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稳定入口</a:t>
            </a:r>
          </a:p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AGENT(S).md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目标 · 边界 · 索引 · 协作</a:t>
            </a:r>
          </a:p>
        </p:txBody>
      </p:sp>
      <p:sp>
        <p:nvSpPr>
          <p:cNvPr id="11" name="rule-layer-1">
            <a:extLst xmlns:a="http://schemas.openxmlformats.org/drawingml/2006/main">
              <a:ext uri="{FF2B5EF4-FFF2-40B4-BE49-F238E27FC236}">
                <a16:creationId xmlns:a16="http://schemas.microsoft.com/office/drawing/2014/main" id="{F951B9EA-79B8-40BA-BFE1-2A82A8E3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28750"/>
            <a:ext cx="6286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当前状态与短期计划 ｜ plan.md：现在与下一步</a:t>
            </a:r>
          </a:p>
        </p:txBody>
      </p:sp>
      <p:sp>
        <p:nvSpPr>
          <p:cNvPr id="12" name="rule-layer-2">
            <a:extLst xmlns:a="http://schemas.openxmlformats.org/drawingml/2006/main">
              <a:ext uri="{FF2B5EF4-FFF2-40B4-BE49-F238E27FC236}">
                <a16:creationId xmlns:a16="http://schemas.microsoft.com/office/drawing/2014/main" id="{EB42D513-2E7F-4FC7-908F-91113EBB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38375"/>
            <a:ext cx="6286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历史与任务记录 ｜ history.md / task_records/：已经发生</a:t>
            </a:r>
          </a:p>
        </p:txBody>
      </p:sp>
      <p:sp>
        <p:nvSpPr>
          <p:cNvPr id="13" name="rule-layer-3">
            <a:extLst xmlns:a="http://schemas.openxmlformats.org/drawingml/2006/main">
              <a:ext uri="{FF2B5EF4-FFF2-40B4-BE49-F238E27FC236}">
                <a16:creationId xmlns:a16="http://schemas.microsoft.com/office/drawing/2014/main" id="{8B14F21A-9359-4297-AADD-B8433966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48000"/>
            <a:ext cx="6286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7F6F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公共规则 ｜ 生成前索引、通用生成与测试规则</a:t>
            </a:r>
          </a:p>
        </p:txBody>
      </p:sp>
      <p:sp>
        <p:nvSpPr>
          <p:cNvPr id="14" name="rule-layer-4">
            <a:extLst xmlns:a="http://schemas.openxmlformats.org/drawingml/2006/main">
              <a:ext uri="{FF2B5EF4-FFF2-40B4-BE49-F238E27FC236}">
                <a16:creationId xmlns:a16="http://schemas.microsoft.com/office/drawing/2014/main" id="{80B09AF3-888D-40BE-91FF-5D42C9A0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57625"/>
            <a:ext cx="6286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7F6F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分支专项规则 ｜ rules/&lt;算子族或任务&gt;.md</a:t>
            </a:r>
          </a:p>
        </p:txBody>
      </p:sp>
      <p:sp>
        <p:nvSpPr>
          <p:cNvPr id="15" name="rule-layer-5">
            <a:extLst xmlns:a="http://schemas.openxmlformats.org/drawingml/2006/main">
              <a:ext uri="{FF2B5EF4-FFF2-40B4-BE49-F238E27FC236}">
                <a16:creationId xmlns:a16="http://schemas.microsoft.com/office/drawing/2014/main" id="{AC34C7BD-FBB6-4095-A522-DD390401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67250"/>
            <a:ext cx="6286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关键决策 ｜ decisions/ADR-*.md</a:t>
            </a:r>
          </a:p>
        </p:txBody>
      </p:sp>
      <p:sp>
        <p:nvSpPr>
          <p:cNvPr id="16" name="rule-architecture-takeaway">
            <a:extLst xmlns:a="http://schemas.openxmlformats.org/drawingml/2006/main">
              <a:ext uri="{FF2B5EF4-FFF2-40B4-BE49-F238E27FC236}">
                <a16:creationId xmlns:a16="http://schemas.microsoft.com/office/drawing/2014/main" id="{CFB400D3-DCE9-4EAC-B5A2-C0D61A46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19750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稳定信息向上放，易变化信息向下拆，历史信息移出活动上下文。</a:t>
            </a:r>
          </a:p>
        </p:txBody>
      </p:sp>
    </p:spTree>
    <p:extLst>
      <p:ext uri="{BB962C8B-B14F-4D97-AF65-F5344CB8AC3E}">
        <p14:creationId xmlns:p14="http://schemas.microsoft.com/office/powerpoint/2010/main" val="171930869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47EF57C2-68BE-4668-BAF6-159FFAD9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70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746BFDA3-6E39-473C-97DE-26A94500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7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根规则只保留每个任务都要知道的内容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E3555195-99C3-4507-A445-A9F711B6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应该包含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项目核心目标与完成口径
模块、资产和规则索引
事实优先级与权限边界
主线—分支协作方式
全局工作纪律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AE041FB1-D160-44D7-BB56-7F54D6A7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不应该包含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某一版本的长日志
已结束任务的逐步过程
临时命令和短期 blocker
某个分支才需要的字段细节</a:t>
            </a:r>
          </a:p>
        </p:txBody>
      </p:sp>
    </p:spTree>
    <p:extLst>
      <p:ext uri="{BB962C8B-B14F-4D97-AF65-F5344CB8AC3E}">
        <p14:creationId xmlns:p14="http://schemas.microsoft.com/office/powerpoint/2010/main" val="74325045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68867DAC-30E6-4CD4-9D86-1B93509D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70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792F5AAB-E11B-40D0-8C8F-C4DB50F7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7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三类文件分别管理现在、过去与未来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1D10A3D9-2AFB-4F93-9D16-24646B57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PLAN｜现在
当前状态、短期任务、blocker、顺序和停止门。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E5ABF005-7652-4343-8E69-01711ED8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HISTORY｜过去
做过什么、成功或失败的证据、错误如何定位。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882557B2-A656-4E0B-B8C7-A8455B76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BRANCH RULE｜未来
专项语义、已知反例、必须检查的门与权限边界。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84E98550-4BE4-459A-A7F5-8580D83C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2C41AE8E-D5BA-4B02-802E-F0096916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D0BFC369-7307-4084-8C5F-A0F18294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45203011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1E89DD48-E1AB-421F-BA81-553BBE5A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8BA0106C-4C38-477A-93E0-FA6B369D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D925FD81-7504-401C-806C-674BED99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3561ED02-765E-4719-B802-226B54A1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70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0372AE27-C4B7-4173-A843-13E05D29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7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规则体系解决交接、上下文与随机性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CE51529-08DB-4696-83BA-4882D621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不依赖账号或单段对话
再用 Git 远端备份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0C55C0B6-A981-47C5-88A2-5D7A11F2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错误升级为规则、反例
和自动校验门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CDA2B00E-5C29-4669-9584-5A4AC07E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压缩后重读入口
分支只读相关规则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F567ED5D-910B-4507-854D-6F44B7DA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交接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ADFBCD99-AF39-4C43-8CFE-EA2DBDC5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路由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70837D9D-5F61-4E1D-BAD5-CEACE9F9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固化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F4677304-49F6-4D78-9646-AC4EAED7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4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项目知识从对话迁入仓库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本项目在规则体系中已沉淀 21 份规则、24 份 ADR、231 份任务记录；历史压缩后仍可由稳定入口恢复工作。</a:t>
            </a:r>
          </a:p>
        </p:txBody>
      </p:sp>
    </p:spTree>
    <p:extLst>
      <p:ext uri="{BB962C8B-B14F-4D97-AF65-F5344CB8AC3E}">
        <p14:creationId xmlns:p14="http://schemas.microsoft.com/office/powerpoint/2010/main" val="17364886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39236BC3-EF80-4964-9B28-8C7ECCDE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主线是控制面，分支是执行面</a:t>
            </a:r>
          </a:p>
        </p:txBody>
      </p:sp>
      <p:sp>
        <p:nvSpPr>
          <p:cNvPr id="2" name="slide-11-footer">
            <a:extLst xmlns:a="http://schemas.openxmlformats.org/drawingml/2006/main">
              <a:ext uri="{FF2B5EF4-FFF2-40B4-BE49-F238E27FC236}">
                <a16:creationId xmlns:a16="http://schemas.microsoft.com/office/drawing/2014/main" id="{17CB9702-2931-4FCD-A9FD-E4BCB985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cxnSp>
        <p:nvCxnSpPr>
          <p:cNvPr id="16" name="mainline-to-trunk"/>
          <p:cNvCxnSpPr/>
          <p:nvPr/>
        </p:nvCxnSpPr>
        <p:spPr>
          <a:xfrm xmlns:a="http://schemas.openxmlformats.org/drawingml/2006/main">
            <a:off x="3524250" y="33337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17" name="branch-trunk"/>
          <p:cNvCxnSpPr/>
          <p:nvPr/>
        </p:nvCxnSpPr>
        <p:spPr>
          <a:xfrm xmlns:a="http://schemas.openxmlformats.org/drawingml/2006/main">
            <a:off x="4476750" y="2066925"/>
            <a:ext cx="0" cy="2571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18" name="dispatch-1"/>
          <p:cNvCxnSpPr/>
          <p:nvPr/>
        </p:nvCxnSpPr>
        <p:spPr>
          <a:xfrm xmlns:a="http://schemas.openxmlformats.org/drawingml/2006/main">
            <a:off x="4476750" y="20669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19" name="dispatch-2"/>
          <p:cNvCxnSpPr/>
          <p:nvPr/>
        </p:nvCxnSpPr>
        <p:spPr>
          <a:xfrm xmlns:a="http://schemas.openxmlformats.org/drawingml/2006/main">
            <a:off x="4476750" y="33528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20" name="dispatch-3"/>
          <p:cNvCxnSpPr/>
          <p:nvPr/>
        </p:nvCxnSpPr>
        <p:spPr>
          <a:xfrm xmlns:a="http://schemas.openxmlformats.org/drawingml/2006/main">
            <a:off x="4476750" y="46386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8" name="mainline-control-plane">
            <a:extLst xmlns:a="http://schemas.openxmlformats.org/drawingml/2006/main">
              <a:ext uri="{FF2B5EF4-FFF2-40B4-BE49-F238E27FC236}">
                <a16:creationId xmlns:a16="http://schemas.microsoft.com/office/drawing/2014/main" id="{7591B7C4-C056-46E6-990D-4330A125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81250"/>
            <a:ext cx="30480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主线控制面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与人交互 · 维护 plan / 公共规则</a:t>
            </a:r>
          </a:p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冻结任务单 · 汇总 blocker 与进度</a:t>
            </a:r>
          </a:p>
        </p:txBody>
      </p:sp>
      <p:sp>
        <p:nvSpPr>
          <p:cNvPr id="9" name="dispatch-return-label">
            <a:extLst xmlns:a="http://schemas.openxmlformats.org/drawingml/2006/main">
              <a:ext uri="{FF2B5EF4-FFF2-40B4-BE49-F238E27FC236}">
                <a16:creationId xmlns:a16="http://schemas.microsoft.com/office/drawing/2014/main" id="{F138ADFE-77D9-4092-A645-5C5E12EC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14625"/>
            <a:ext cx="5905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派发</a:t>
            </a:r>
          </a:p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↔</a:t>
            </a:r>
          </a:p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回传</a:t>
            </a:r>
          </a:p>
        </p:txBody>
      </p:sp>
      <p:sp>
        <p:nvSpPr>
          <p:cNvPr id="10" name="operator-branch">
            <a:extLst xmlns:a="http://schemas.openxmlformats.org/drawingml/2006/main">
              <a:ext uri="{FF2B5EF4-FFF2-40B4-BE49-F238E27FC236}">
                <a16:creationId xmlns:a16="http://schemas.microsoft.com/office/drawing/2014/main" id="{A2393A13-4656-457F-90C5-897AD305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19250"/>
            <a:ext cx="61912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算子族执行面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本族 JSON → mapping → bitstream → 回传分析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不直接修改公共 plan / rules</a:t>
            </a:r>
          </a:p>
        </p:txBody>
      </p:sp>
      <p:sp>
        <p:nvSpPr>
          <p:cNvPr id="11" name="human-json-branch">
            <a:extLst xmlns:a="http://schemas.openxmlformats.org/drawingml/2006/main">
              <a:ext uri="{FF2B5EF4-FFF2-40B4-BE49-F238E27FC236}">
                <a16:creationId xmlns:a16="http://schemas.microsoft.com/office/drawing/2014/main" id="{A6B16B19-315D-4515-AAAC-233DBEEB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05125"/>
            <a:ext cx="61912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E7F6F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人工 JSON 消费线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只消费用户冻结输入；不擅自改写 JSON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切换 family 时做干净 handoff</a:t>
            </a:r>
          </a:p>
        </p:txBody>
      </p:sp>
      <p:sp>
        <p:nvSpPr>
          <p:cNvPr id="12" name="infra-branch">
            <a:extLst xmlns:a="http://schemas.openxmlformats.org/drawingml/2006/main">
              <a:ext uri="{FF2B5EF4-FFF2-40B4-BE49-F238E27FC236}">
                <a16:creationId xmlns:a16="http://schemas.microsoft.com/office/drawing/2014/main" id="{37CE7B94-C3E9-4741-8AAA-109CED76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191000"/>
            <a:ext cx="61912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条件启用的基础设施线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只处理跨算子的 runner / observer / 封包问题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不裁决算子数值语义</a:t>
            </a:r>
          </a:p>
        </p:txBody>
      </p:sp>
      <p:sp>
        <p:nvSpPr>
          <p:cNvPr id="13" name="branch-return-contract">
            <a:extLst xmlns:a="http://schemas.openxmlformats.org/drawingml/2006/main">
              <a:ext uri="{FF2B5EF4-FFF2-40B4-BE49-F238E27FC236}">
                <a16:creationId xmlns:a16="http://schemas.microsoft.com/office/drawing/2014/main" id="{7A835C78-147C-4370-8794-ADFC323C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4292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结构化回传：RETURN_ANALYSIS · RULE_DELTA_PROPOSAL · BLOCKER_DELTA · PACKAGE_RELEASE</a:t>
            </a:r>
          </a:p>
        </p:txBody>
      </p:sp>
    </p:spTree>
    <p:extLst>
      <p:ext uri="{BB962C8B-B14F-4D97-AF65-F5344CB8AC3E}">
        <p14:creationId xmlns:p14="http://schemas.microsoft.com/office/powerpoint/2010/main" val="60626577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31D8448C-EAFB-41D7-902B-D059ABA9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70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C2963D87-5BFF-4E88-824D-2C215533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7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并行提高速度，但不会增加总能力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672F041B-41EC-49DC-AD27-89AB93D4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627B5297-67AB-4428-86DE-29F5CBE9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173D267F-0B24-46D8-B459-509B1212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794BE22C-BED5-499F-A33C-6E305ADD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6B0D8F3A-49AF-4CFE-9B25-45252906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收益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多个独立任务同时推进
分支上下文更纯净
主线始终可用于项目交互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46556E3A-363A-4037-A5BE-8B9E51A2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916C094D-8F58-4E58-AC3E-2E139089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代价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任务分发、回传、规则同步有通信成本
共享资源仍有物理上限
错误拆分会制造重复工作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19CF1ADA-5BBD-4DC2-A345-C8CF1BDA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41359B46-AA88-4A4A-8CC8-316EF502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项目案例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 条执行线 / 3 个独立服务器根
同一根目录同一时刻只运行 1 个包
资源争用时主动降低并行度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4FCF5995-BC5E-4900-8C91-DAE5FAF5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042291E7-39E0-4E94-A320-574A229C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BC53648F-E03C-49D7-A9EC-7EAD6CD8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6334991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054630AA-8665-41B4-ACB4-D2D1F486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70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097AF389-17A1-4839-A826-1F38658F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7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上下文管理的关键是路由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B70EA04C-D53A-49C8-8EDC-AB138300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BB400850-DE98-4982-BDED-77852334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B150E20F-3958-47D7-9530-903B5A0F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C5EDFDCC-3E15-4E21-B77E-DD7AF3BA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LOAD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D64EC067-C40C-4E1F-99A3-2244199F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WORK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AD57927D-50C9-46CE-9A28-BEF5471C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RESTORE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6B8EB773-572E-4629-B914-EF78DF3E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执行中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只保留当前目标、冻结输入、决策和最新证据
不混入其他算子族细节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D446CEAF-344E-427A-BE50-820C6F8F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任务开始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读稳定入口
按本轮动作选择公共与专项规则
记录路径、SHA 与读取原因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F5AE4C85-97BB-41FF-9257-F8938942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压缩之后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重读入口、计划相关段落和专项规则
从 task record 恢复必要事实</a:t>
            </a:r>
          </a:p>
        </p:txBody>
      </p:sp>
    </p:spTree>
    <p:extLst>
      <p:ext uri="{BB962C8B-B14F-4D97-AF65-F5344CB8AC3E}">
        <p14:creationId xmlns:p14="http://schemas.microsoft.com/office/powerpoint/2010/main" val="91836037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DC12C3F-F851-4A1D-9D17-1ABE3523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70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61FDC9F8-1ED8-4F39-82CD-341D124D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7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先计划后执行，先暴露理解偏差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690DAE8C-9744-4871-BE8E-29B0C848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一张任务单，先冻结六件事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A1DDEC4E-13B7-4AB2-9461-DDA62D7B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目标与完成口径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51A36E7A-9E99-4515-B112-41DEE6C0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DDF728D8-6054-4A15-9328-CBF79877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7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执行前让 Agent 复述计划与假设；不懂的地方先提问；人确认路线后再修改和运行。</a:t>
            </a:r>
          </a:p>
          <a:p xmlns:a="http://schemas.openxmlformats.org/drawingml/2006/main">
            <a:pPr algn="l">
              <a:lnSpc>
                <a:spcPct val="122000"/>
              </a:lnSpc>
              <a:spcAft>
                <a:spcPts val="7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失败分流也要提前定义：CONFIG、RTL、observer 还是 package infrastructure？否则分支会自行扩大范围，无法判断哪一步产生了效果。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92DB3784-4D75-4226-BC33-EBAB9191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冻结输入、版本与规则 SHA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ECE08868-CE6C-4F12-8A5F-F7D07983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C7FD6B84-11A4-4E5C-AF2D-0EC73F5A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允许写入的路径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50C5164F-6AAF-4304-BC38-D31259A0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6330242E-E3E5-4619-8A15-08A0F6E4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失败分流与停止条件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7FBCF0FA-D688-4753-895F-695883BA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CE6702B5-1384-4AC4-B30F-751B1075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测试预算与外部操作权限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1ABEA708-1092-4D1C-89AD-46C8F753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200478325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15-title">
            <a:extLst xmlns:a="http://schemas.openxmlformats.org/drawingml/2006/main">
              <a:ext uri="{FF2B5EF4-FFF2-40B4-BE49-F238E27FC236}">
                <a16:creationId xmlns:a16="http://schemas.microsoft.com/office/drawing/2014/main" id="{4BF00BA0-8DC2-4A84-87BF-39373C16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长期阻塞时，人要改变问题</a:t>
            </a:r>
          </a:p>
        </p:txBody>
      </p:sp>
      <p:sp>
        <p:nvSpPr>
          <p:cNvPr id="2" name="slide-15-footer">
            <a:extLst xmlns:a="http://schemas.openxmlformats.org/drawingml/2006/main">
              <a:ext uri="{FF2B5EF4-FFF2-40B4-BE49-F238E27FC236}">
                <a16:creationId xmlns:a16="http://schemas.microsoft.com/office/drawing/2014/main" id="{00FCD917-27DE-41D7-9080-923EB94C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cxnSp>
        <p:nvCxnSpPr>
          <p:cNvPr id="19" name="human-loop-step-1"/>
          <p:cNvCxnSpPr/>
          <p:nvPr/>
        </p:nvCxnSpPr>
        <p:spPr>
          <a:xfrm xmlns:a="http://schemas.openxmlformats.org/drawingml/2006/main">
            <a:off x="2571750" y="25717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20" name="human-loop-step-2"/>
          <p:cNvCxnSpPr/>
          <p:nvPr/>
        </p:nvCxnSpPr>
        <p:spPr>
          <a:xfrm xmlns:a="http://schemas.openxmlformats.org/drawingml/2006/main">
            <a:off x="5334000" y="25717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21" name="human-loop-step-3"/>
          <p:cNvCxnSpPr/>
          <p:nvPr/>
        </p:nvCxnSpPr>
        <p:spPr>
          <a:xfrm xmlns:a="http://schemas.openxmlformats.org/drawingml/2006/main">
            <a:off x="8096250" y="25717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22" name="review-down"/>
          <p:cNvCxnSpPr/>
          <p:nvPr/>
        </p:nvCxnSpPr>
        <p:spPr>
          <a:xfrm xmlns:a="http://schemas.openxmlformats.org/drawingml/2006/main">
            <a:off x="9810750" y="3048000"/>
            <a:ext cx="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23" name="review-split"/>
          <p:cNvCxnSpPr/>
          <p:nvPr/>
        </p:nvCxnSpPr>
        <p:spPr>
          <a:xfrm xmlns:a="http://schemas.openxmlformats.org/drawingml/2006/main">
            <a:off x="3238500" y="3619500"/>
            <a:ext cx="6572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24" name="continue-down"/>
          <p:cNvCxnSpPr/>
          <p:nvPr/>
        </p:nvCxnSpPr>
        <p:spPr>
          <a:xfrm xmlns:a="http://schemas.openxmlformats.org/drawingml/2006/main">
            <a:off x="3238500" y="361950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25" name="intervene-down"/>
          <p:cNvCxnSpPr/>
          <p:nvPr/>
        </p:nvCxnSpPr>
        <p:spPr>
          <a:xfrm xmlns:a="http://schemas.openxmlformats.org/drawingml/2006/main">
            <a:off x="8953500" y="361950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0" name="human-step-1">
            <a:extLst xmlns:a="http://schemas.openxmlformats.org/drawingml/2006/main">
              <a:ext uri="{FF2B5EF4-FFF2-40B4-BE49-F238E27FC236}">
                <a16:creationId xmlns:a16="http://schemas.microsoft.com/office/drawing/2014/main" id="{F3BA868D-AC06-4D78-BAC2-22BAAEB1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计划</a:t>
            </a:r>
          </a:p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复述目标、假设与停止门</a:t>
            </a:r>
          </a:p>
        </p:txBody>
      </p:sp>
      <p:sp>
        <p:nvSpPr>
          <p:cNvPr id="11" name="human-step-2">
            <a:extLst xmlns:a="http://schemas.openxmlformats.org/drawingml/2006/main">
              <a:ext uri="{FF2B5EF4-FFF2-40B4-BE49-F238E27FC236}">
                <a16:creationId xmlns:a16="http://schemas.microsoft.com/office/drawing/2014/main" id="{2C4362B2-7519-403E-907A-1D7021BD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9550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在允许范围内修改与验证</a:t>
            </a:r>
          </a:p>
        </p:txBody>
      </p:sp>
      <p:sp>
        <p:nvSpPr>
          <p:cNvPr id="12" name="human-step-3">
            <a:extLst xmlns:a="http://schemas.openxmlformats.org/drawingml/2006/main">
              <a:ext uri="{FF2B5EF4-FFF2-40B4-BE49-F238E27FC236}">
                <a16:creationId xmlns:a16="http://schemas.microsoft.com/office/drawing/2014/main" id="{953316BF-3660-45A0-A100-24089CB3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9550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记录真实结果与首个分歧</a:t>
            </a:r>
          </a:p>
        </p:txBody>
      </p:sp>
      <p:sp>
        <p:nvSpPr>
          <p:cNvPr id="13" name="human-step-4">
            <a:extLst xmlns:a="http://schemas.openxmlformats.org/drawingml/2006/main">
              <a:ext uri="{FF2B5EF4-FFF2-40B4-BE49-F238E27FC236}">
                <a16:creationId xmlns:a16="http://schemas.microsoft.com/office/drawing/2014/main" id="{93F6FA3A-38FE-4B2F-8B5B-15277937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9550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7F6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裁决</a:t>
            </a:r>
          </a:p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判断是否新增区分性信息</a:t>
            </a:r>
          </a:p>
        </p:txBody>
      </p:sp>
      <p:sp>
        <p:nvSpPr>
          <p:cNvPr id="14" name="continue-path">
            <a:extLst xmlns:a="http://schemas.openxmlformats.org/drawingml/2006/main">
              <a:ext uri="{FF2B5EF4-FFF2-40B4-BE49-F238E27FC236}">
                <a16:creationId xmlns:a16="http://schemas.microsoft.com/office/drawing/2014/main" id="{D2CEB450-65A6-4E18-9274-EECB36CB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4572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有新增证据</a:t>
            </a:r>
          </a:p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继续下一轮，把问题边界再收窄</a:t>
            </a:r>
          </a:p>
        </p:txBody>
      </p:sp>
      <p:sp>
        <p:nvSpPr>
          <p:cNvPr id="15" name="human-intervention-path">
            <a:extLst xmlns:a="http://schemas.openxmlformats.org/drawingml/2006/main">
              <a:ext uri="{FF2B5EF4-FFF2-40B4-BE49-F238E27FC236}">
                <a16:creationId xmlns:a16="http://schemas.microsoft.com/office/drawing/2014/main" id="{23C365D6-EB36-4143-BE3F-08FD045B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95750"/>
            <a:ext cx="4572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长期阻塞</a:t>
            </a:r>
          </a:p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人重新定义问题、补系统知识、换验证顺序或换方向</a:t>
            </a:r>
          </a:p>
        </p:txBody>
      </p:sp>
      <p:sp>
        <p:nvSpPr>
          <p:cNvPr id="16" name="human-intervention-signals">
            <a:extLst xmlns:a="http://schemas.openxmlformats.org/drawingml/2006/main">
              <a:ext uri="{FF2B5EF4-FFF2-40B4-BE49-F238E27FC236}">
                <a16:creationId xmlns:a16="http://schemas.microsoft.com/office/drawing/2014/main" id="{06A4B710-2756-41D8-9387-6F5FB35D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768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危险信号：多轮没有新证据｜代价持续上升｜只换实现细节｜测试无法区分候选原因</a:t>
            </a:r>
          </a:p>
        </p:txBody>
      </p:sp>
    </p:spTree>
    <p:extLst>
      <p:ext uri="{BB962C8B-B14F-4D97-AF65-F5344CB8AC3E}">
        <p14:creationId xmlns:p14="http://schemas.microsoft.com/office/powerpoint/2010/main" val="7262964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48510625-9711-49C9-B16C-5D46481B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70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F4A13EB5-5962-4E0F-A824-6E1B9D37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7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直接模仿 JSON，迭代多次仍不收敛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EA27425A-8D50-4076-B6A2-44214000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328E4703-5723-4168-BF97-FE02528B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3CF77D3E-CBFF-4BB4-8E50-3E7ED35A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62CE69E4-1987-4F59-BD90-FBB14506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ONNX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39EF55E6-C902-4924-B7BE-CE18D500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JSON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D6982F67-4031-43CB-BAB6-A66FC5F2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SERVER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7ED018A8-21DF-4F6F-8C54-78E4107E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仿写配置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参考已有 JSON 的结构与字段，生成新算子 JSON。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E6F815DC-E7FB-484B-AC0F-25290752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从公式出发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读取 ONNX 与算子计算步骤，理解数学结果。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08776C2A-C445-4975-B9E0-C19F9286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上机测试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文件能解析、能编码、甚至能启动，但数值或时序仍可能错误。</a:t>
            </a:r>
          </a:p>
        </p:txBody>
      </p:sp>
    </p:spTree>
    <p:extLst>
      <p:ext uri="{BB962C8B-B14F-4D97-AF65-F5344CB8AC3E}">
        <p14:creationId xmlns:p14="http://schemas.microsoft.com/office/powerpoint/2010/main" val="586133188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D470E2EB-4BD3-46BA-BCF8-C2DA3ED4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70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E051E706-25F3-4DBF-9F07-915B69B6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7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转折点：补齐 JSON 后面的消费链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FA3CD7FF-89D0-4306-8FFE-EE3ED9A5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真实计算步骤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补齐已有算子 JSON 在硬件上实际执行的计算与分块。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6301C9D6-FC51-4A54-AF89-F68CDD2C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Mapper / Encoder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说明字段如何生成 mapping 与 bitstream，而不只看文件格式。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8593410-D659-4CEC-9414-79B91E84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Execplan / SCA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追踪 bitstream 如何装载、寻址、启动并产生 physical output。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B5F76898-46B9-405F-BB71-81DFBD58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RTL 消费者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核对单元、握手、地址、生命周期、完成条件与回读语义。</a:t>
            </a:r>
          </a:p>
        </p:txBody>
      </p:sp>
    </p:spTree>
    <p:extLst>
      <p:ext uri="{BB962C8B-B14F-4D97-AF65-F5344CB8AC3E}">
        <p14:creationId xmlns:p14="http://schemas.microsoft.com/office/powerpoint/2010/main" val="1600083974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AC5A131D-A6DA-4425-86FE-204112FF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662EDC62-0273-4A1F-9B62-7F7F441D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81616062-AEF0-4980-89DD-C9689355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C8C8F4A3-6212-456C-BA04-61D275C4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70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D402781C-FDAE-4C4B-BF0E-DD1DBACF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7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六轮收敛到 v6，并完成 E4 / E5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C73B404-6ECD-43CC-BABB-6AFB57FCD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版本生成收据
v1 → v6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695B17DC-957F-4AD1-9B86-5DFEBED2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16,000 个 FP32 元素
三方一致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71D9109E-EC24-4C41-B3BF-B83E5D3C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formal D 行
逐 bit 对 golden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C288E6E4-692D-4159-B70D-56BD0527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08C8BCCA-5B92-4D92-BBE6-3FAFE89C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5,264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B69C4E91-DDD4-48BE-97A2-DAB7E5D1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E4+E5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BB018BD2-0EFA-4A23-878C-DDDD4A05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4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从随机试错变成可追溯闭环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六份生成收据记录 v1→v6；E4、E5 使用全新身份重复验证。项目同时沉淀 8 份 RTL 缺陷记录，使配置问题与硬件问题分离。</a:t>
            </a:r>
          </a:p>
        </p:txBody>
      </p:sp>
    </p:spTree>
    <p:extLst>
      <p:ext uri="{BB962C8B-B14F-4D97-AF65-F5344CB8AC3E}">
        <p14:creationId xmlns:p14="http://schemas.microsoft.com/office/powerpoint/2010/main" val="57699551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28261CF8-EF2B-4A0D-8CD2-846D58C4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70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2" name="Title-7-3">
            <a:extLst xmlns:a="http://schemas.openxmlformats.org/drawingml/2006/main">
              <a:ext uri="{FF2B5EF4-FFF2-40B4-BE49-F238E27FC236}">
                <a16:creationId xmlns:a16="http://schemas.microsoft.com/office/drawing/2014/main" id="{51365ECB-C4EF-4D82-B527-35531A7F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7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降低随机性：把提醒升级成校验门</a:t>
            </a:r>
          </a:p>
        </p:txBody>
      </p:sp>
      <p:sp>
        <p:nvSpPr>
          <p:cNvPr id="3" name="Rounded-Rectangle-4-4">
            <a:extLst xmlns:a="http://schemas.openxmlformats.org/drawingml/2006/main">
              <a:ext uri="{FF2B5EF4-FFF2-40B4-BE49-F238E27FC236}">
                <a16:creationId xmlns:a16="http://schemas.microsoft.com/office/drawing/2014/main" id="{56DF7CA1-7D37-414C-88D9-F9C637EA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3568732" cy="39624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8-5">
            <a:extLst xmlns:a="http://schemas.openxmlformats.org/drawingml/2006/main">
              <a:ext uri="{FF2B5EF4-FFF2-40B4-BE49-F238E27FC236}">
                <a16:creationId xmlns:a16="http://schemas.microsoft.com/office/drawing/2014/main" id="{58E8BB2B-95EB-49B0-9B51-585C7C7C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00" y="4784312"/>
            <a:ext cx="3068669" cy="212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约束强度</a:t>
            </a:r>
          </a:p>
        </p:txBody>
      </p:sp>
      <p:sp>
        <p:nvSpPr>
          <p:cNvPr id="5" name="Content-Placeholder-8-6">
            <a:extLst xmlns:a="http://schemas.openxmlformats.org/drawingml/2006/main">
              <a:ext uri="{FF2B5EF4-FFF2-40B4-BE49-F238E27FC236}">
                <a16:creationId xmlns:a16="http://schemas.microsoft.com/office/drawing/2014/main" id="{D31DB92C-26C2-4FCE-9ED1-419CDF23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00" y="5282184"/>
            <a:ext cx="1705737" cy="481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最强</a:t>
            </a:r>
          </a:p>
        </p:txBody>
      </p:sp>
      <p:sp>
        <p:nvSpPr>
          <p:cNvPr id="6" name="Content-Placeholder-8-7">
            <a:extLst xmlns:a="http://schemas.openxmlformats.org/drawingml/2006/main">
              <a:ext uri="{FF2B5EF4-FFF2-40B4-BE49-F238E27FC236}">
                <a16:creationId xmlns:a16="http://schemas.microsoft.com/office/drawing/2014/main" id="{D2309DCA-8FCF-48F6-BCB1-4CA4C9BF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532" y="5424773"/>
            <a:ext cx="1362837" cy="212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自动拒绝</a:t>
            </a:r>
          </a:p>
        </p:txBody>
      </p:sp>
      <p:sp>
        <p:nvSpPr>
          <p:cNvPr id="7" name="Rounded-Rectangle-1-9">
            <a:extLst xmlns:a="http://schemas.openxmlformats.org/drawingml/2006/main">
              <a:ext uri="{FF2B5EF4-FFF2-40B4-BE49-F238E27FC236}">
                <a16:creationId xmlns:a16="http://schemas.microsoft.com/office/drawing/2014/main" id="{268EFACE-0B30-40B8-869A-28BA869B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31968"/>
            <a:ext cx="3568732" cy="39624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10">
            <a:extLst xmlns:a="http://schemas.openxmlformats.org/drawingml/2006/main">
              <a:ext uri="{FF2B5EF4-FFF2-40B4-BE49-F238E27FC236}">
                <a16:creationId xmlns:a16="http://schemas.microsoft.com/office/drawing/2014/main" id="{0396B373-9392-49E1-9A66-987B103B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5331" y="2316004"/>
            <a:ext cx="3068669" cy="20400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规则文件约束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规定必读范围、语义边界、反例、允许动作与停止条件。</a:t>
            </a:r>
          </a:p>
        </p:txBody>
      </p:sp>
      <p:sp>
        <p:nvSpPr>
          <p:cNvPr id="9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BD1BF787-C473-4174-A699-DAABF0F5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5331" y="4784312"/>
            <a:ext cx="3068669" cy="212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约束强度</a:t>
            </a:r>
          </a:p>
        </p:txBody>
      </p:sp>
      <p:sp>
        <p:nvSpPr>
          <p:cNvPr id="10" name="Content-Placeholder-8-12">
            <a:extLst xmlns:a="http://schemas.openxmlformats.org/drawingml/2006/main">
              <a:ext uri="{FF2B5EF4-FFF2-40B4-BE49-F238E27FC236}">
                <a16:creationId xmlns:a16="http://schemas.microsoft.com/office/drawing/2014/main" id="{46B6675F-5DB8-4DAC-9F4C-E1AE65F3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5331" y="5282184"/>
            <a:ext cx="1705737" cy="481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中等</a:t>
            </a:r>
          </a:p>
        </p:txBody>
      </p:sp>
      <p:sp>
        <p:nvSpPr>
          <p:cNvPr id="11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E2A86040-CEAD-475C-BEC4-BE6BC995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068" y="5424773"/>
            <a:ext cx="1362837" cy="212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需要复读</a:t>
            </a:r>
          </a:p>
        </p:txBody>
      </p:sp>
      <p:sp>
        <p:nvSpPr>
          <p:cNvPr id="12" name="Rounded-Rectangle-12-15">
            <a:extLst xmlns:a="http://schemas.openxmlformats.org/drawingml/2006/main">
              <a:ext uri="{FF2B5EF4-FFF2-40B4-BE49-F238E27FC236}">
                <a16:creationId xmlns:a16="http://schemas.microsoft.com/office/drawing/2014/main" id="{1C452DC7-FB2E-4A2F-9A3F-E59F83B6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32" y="2031968"/>
            <a:ext cx="3568732" cy="39624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3" name="Content-Placeholder-8-16">
            <a:extLst xmlns:a="http://schemas.openxmlformats.org/drawingml/2006/main">
              <a:ext uri="{FF2B5EF4-FFF2-40B4-BE49-F238E27FC236}">
                <a16:creationId xmlns:a16="http://schemas.microsoft.com/office/drawing/2014/main" id="{7C619481-CE1C-432B-9DD8-B55C6C477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6963" y="2316004"/>
            <a:ext cx="3068669" cy="20400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用户口头约束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适合说明本轮意图，但几次压缩后最容易被遗忘。</a:t>
            </a:r>
          </a:p>
        </p:txBody>
      </p:sp>
      <p:sp>
        <p:nvSpPr>
          <p:cNvPr id="14" name="Content-Placeholder-8-17">
            <a:extLst xmlns:a="http://schemas.openxmlformats.org/drawingml/2006/main">
              <a:ext uri="{FF2B5EF4-FFF2-40B4-BE49-F238E27FC236}">
                <a16:creationId xmlns:a16="http://schemas.microsoft.com/office/drawing/2014/main" id="{4361B8A5-E088-46F3-A1F6-C4A7D4A0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6963" y="4784312"/>
            <a:ext cx="3068669" cy="212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约束强度</a:t>
            </a:r>
          </a:p>
        </p:txBody>
      </p:sp>
      <p:sp>
        <p:nvSpPr>
          <p:cNvPr id="15" name="Content-Placeholder-8-18">
            <a:extLst xmlns:a="http://schemas.openxmlformats.org/drawingml/2006/main">
              <a:ext uri="{FF2B5EF4-FFF2-40B4-BE49-F238E27FC236}">
                <a16:creationId xmlns:a16="http://schemas.microsoft.com/office/drawing/2014/main" id="{FBA35A08-BAFF-4D21-9D20-D5931814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6963" y="5282184"/>
            <a:ext cx="1705737" cy="481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最弱</a:t>
            </a:r>
          </a:p>
        </p:txBody>
      </p:sp>
      <p:sp>
        <p:nvSpPr>
          <p:cNvPr id="16" name="Content-Placeholder-8-19">
            <a:extLst xmlns:a="http://schemas.openxmlformats.org/drawingml/2006/main">
              <a:ext uri="{FF2B5EF4-FFF2-40B4-BE49-F238E27FC236}">
                <a16:creationId xmlns:a16="http://schemas.microsoft.com/office/drawing/2014/main" id="{9AC61FF2-417B-4D52-9B1C-B35D9912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424773"/>
            <a:ext cx="1362837" cy="212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容易遗忘</a:t>
            </a:r>
          </a:p>
        </p:txBody>
      </p:sp>
      <p:sp>
        <p:nvSpPr>
          <p:cNvPr id="17" name="Content-Placeholder-8-21">
            <a:extLst xmlns:a="http://schemas.openxmlformats.org/drawingml/2006/main">
              <a:ext uri="{FF2B5EF4-FFF2-40B4-BE49-F238E27FC236}">
                <a16:creationId xmlns:a16="http://schemas.microsoft.com/office/drawing/2014/main" id="{218D78E7-DE45-4EEB-99B7-D8CD44B8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176" y="2316194"/>
            <a:ext cx="3070193" cy="20399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代码硬约束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把关键要求做成 validator、schema、preflight 与 fail-closed gate。</a:t>
            </a:r>
          </a:p>
        </p:txBody>
      </p:sp>
    </p:spTree>
    <p:extLst>
      <p:ext uri="{BB962C8B-B14F-4D97-AF65-F5344CB8AC3E}">
        <p14:creationId xmlns:p14="http://schemas.microsoft.com/office/powerpoint/2010/main" val="204258356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A627C07D-C4CB-4AA5-8776-81EB8A0D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70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98CFB184-B058-4B97-A4B9-2382DAE8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7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从下一次项目开始，按这五步执行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109D4ECB-92BA-4782-A33D-65D641FF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AI 会犯错，但系统可以一轮比一轮更稳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C1885623-9A76-41AF-B84D-DE4439F6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先画地图：冻结目标与完成证据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17D9CEEB-62CE-4E50-9B61-4B6E0553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FF8C49BA-340C-4670-A6EC-22EC6F41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7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当效果不理想时，先检查协作方式：目标是否明确？Agent 是否看到真实消费链？任务是否合理拆分？测试能否区分候选原因？关键规则是否已经代码化？</a:t>
            </a:r>
          </a:p>
          <a:p xmlns:a="http://schemas.openxmlformats.org/drawingml/2006/main">
            <a:pPr algn="l">
              <a:lnSpc>
                <a:spcPct val="122000"/>
              </a:lnSpc>
              <a:spcAft>
                <a:spcPts val="7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可以换方向、换模型或让多个分支尝试，但所有尝试都要回到同一套证据与规则体系。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D3433EF9-12ED-4481-97C3-BD20F510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再建规则：入口、计划、历史、专项分层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3E4F8C5A-289A-4AB3-9BF4-02BFB739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2FBCC20C-693B-4DF1-B3C6-5560F040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主线调度：分支独立执行并结构化回传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D1A632CC-381D-407C-8AA0-065ACFDE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3D6C8BB6-8C50-4495-B266-5EF5FA2B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先计划再动手：明确权限、停止门和分流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21115E4D-1E6D-44A1-9C1C-ECB7DA87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2AB64D27-0D9C-4ABB-BD64-B09F9F33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把经验变成门：规则、反例与自动校验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F0B45E39-8353-4CE2-A65F-3D62A586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9510896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2026-07-31T12:01:30.8940000Z</dcterms:created>
  <dcterms:modified xsi:type="dcterms:W3CDTF">2026-07-31T12:01:30.8940000Z</dcterms:modified>
</coreProperties>
</file>